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checks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733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AA7B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5AA7BC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Unity C (host-built)</c:v>
                  </c:pt>
                  <c:pt idx="1">
                    <c:v>assistant (pytest)</c:v>
                  </c:pt>
                  <c:pt idx="2">
                    <c:v>HW · conn (GATT)</c:v>
                  </c:pt>
                  <c:pt idx="3">
                    <c:v>HW · BLE+Lua</c:v>
                  </c:pt>
                  <c:pt idx="4">
                    <c:v>run_case (pytest)</c:v>
                  </c:pt>
                  <c:pt idx="5">
                    <c:v>HW · bridge</c:v>
                  </c:pt>
                  <c:pt idx="6">
                    <c:v>HW · power</c:v>
                  </c:pt>
                  <c:pt idx="7">
                    <c:v>HW · peer</c:v>
                  </c:pt>
                  <c:pt idx="8">
                    <c:v>llm_loop (pytest)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126</c:v>
                </c:pt>
                <c:pt idx="1">
                  <c:v>108</c:v>
                </c:pt>
                <c:pt idx="2">
                  <c:v>65</c:v>
                </c:pt>
                <c:pt idx="3">
                  <c:v>45</c:v>
                </c:pt>
                <c:pt idx="4">
                  <c:v>33</c:v>
                </c:pt>
                <c:pt idx="5">
                  <c:v>32</c:v>
                </c:pt>
                <c:pt idx="6">
                  <c:v>14</c:v>
                </c:pt>
                <c:pt idx="7">
                  <c:v>11</c:v>
                </c:pt>
                <c:pt idx="8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733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</c:scaling>
        <c:delete val="0"/>
        <c:axPos val="b"/>
        <c:majorGridlines>
          <c:spPr>
            <a:ln w="6350" cap="flat">
              <a:solidFill>
                <a:srgbClr val="EBF0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One-sentence pitch: a $5 ESP32-S3 sniffs BLE and runs Lua; a Python host application puts an LLM in the loop. Everything in this deck is live-verified on hardware. v1.1.0 released; stage 6 (the agent platform) is the current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 first (3 rows, left), then the idea (card, right): Lua on device + LLM on host = extensible instrumentation without reflash. The bottom loop is the structure of the whole talk — capture, analyze, generate, deploy, observe.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map to keep: PC on the left (cloud LLM + three Python tools + tests), USB CDC in the middle (commands out, JSON lines back), dongle on the right with its two radio roles: passive observer and optional GATT central. Point forward: each container gets its own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components, one rule: modules communicate only via the interfaces/ headers — that contract layer is why parallel AI agents could extend this codebase without stepping on each other. Line counts are real (cloc-style from the repo).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one advert left to right: radio → dedup → parse → filter → Lua hook → JSON → USB. Then the second plane: an optional GATT connection whose subscribe can degrade to polling — that fallback is what the first_order_poll demo exercises. Close with the invariants; they are why the thing never falls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correction this slide makes for most audiences: BLE is NOT the host link. The dongle's radio talks to other devices; the host link is USB CDC. Left = radio behaviors (passive + optional central), right = the USB contract details that host tools rely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protocol on one slide: four exchanges cover scan control and script upload. The cmd field is the anti-stale-line trick — after a Ctrl+C interrupt, old responses can't be mistaken for new ones. Error ranges mean the host can branch on the module that failed.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registry's cleverness is that it added a whole extension mechanism with zero firmware changes: a pack is a plain Lua file obeying two constraints (one statement per line ≤240 B; manifest() describing each tool). The demo pack ships mean, temp_convert, bench_reset.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row: how a pack registers — the host pulls the manifest in chunks, validates strictly, and rejects name collisions BEFORE sending anything to the device. Bottom: the agent loop the LLM actually runs — compose, execute, read result, iterate — capped at three consecutive executions per turn so the model can't runaway-loop; then it must answer in plain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llm_loop = batch pipeline; run_case = reproducible scenario harness with a simulated plant; assistant = the interactive product. Emphasize the safety chain at the bottom: nothing the LLM writes reaches the radio without strict parsing, a human y/N, a per-line sandbox scan, and the on-device -612 gate as the last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Boring but battle-tested: the provider layer survived four .llm_env rewrites. Two self-heals — auth fallback to the file, URL dialect fix for Aliyun's native endpoint — plus thinking-mode off. The env-wins-as-a-unit rule exists because mixing an ambient key with the file's base URL is a guaranteed 401.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slide. A first-order plant (tau=10) is simulated on the PC and served over GATT; the dongle must poll because notifications are off. 60 of 60 lines captured, and the LLM's estimate of tau from raw samples: 9.5 against a true 10.0 — inside the 10% tolerance. Physics-checked, not vibes.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whole check inventory as one chart — C tests host-built with gcc, pytest suites for each host tool, and five hardware suites driven over the real COM port. Right: the hardware gate. The subtle detail is the reset_reason check after EVERY suite — if the chip rebooted for any reason other than USB replug, the gate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theme: no quality claim without an artifact. The fuzzer paid for itself on its first run; golden transcripts keep real-world noise in CI; soaks watch for long-horizon decay; and the ledger means every bug class found by an evaluation round is provably closed before the next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as architecture: the branch diagram is the git model — baselines only receive squash merges, feature branches carry a manifest that doubles as the merge contract. The five steps on the right are the lifecycle every feature walks; H6.1 (the tool registry) is the first feature to run the full ritual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is also a case study in AI-assisted development. Left column: what we actually did. Right column: what 2026 research says — the mapping is close, which is the point. The 29 % trust stat motivates the whole evidence-first workflow: never merge on vibes, merge on the hardware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trajectory: M2 makes tools persistent, M3 turns the dongle into an actor, M4 makes the LLM integration native. Then the one-liner and the numbers strip. Q&amp;A prompts: what would you sniff first?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esp32_lua_llm · architecture walkthrough · 2026-09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37160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200" kern="0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ESP32-S3 · NIMBLE · LUA 5.4 · USB CDC · LLM HOST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30352" y="1783080"/>
            <a:ext cx="8686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BLE test lab on a USB dongle,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operated by an LLM.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7490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FB3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Passive sniffing, on-device Lua scripting, and a host-side agent that reads the traffic, writes its own tools — and ships them to the dongle over USB.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989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F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v1.1.0 · stages 0–5 complete · stage 6 (agent platform) in progress on Lua_tool_extension_dev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418320" y="182880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0F1720"/>
          </a:solidFill>
          <a:ln w="12700">
            <a:solidFill>
              <a:srgbClr val="9FB3C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 — LLM host tools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515600" y="2395728"/>
            <a:ext cx="0" cy="36576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0625328" y="24323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USB CDC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0" y="2852928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0F1720"/>
          </a:solidFill>
          <a:ln w="12700">
            <a:solidFill>
              <a:srgbClr val="9FB3C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ESP32-S3 dongle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0" y="3419856"/>
            <a:ext cx="0" cy="365760"/>
          </a:xfrm>
          <a:prstGeom prst="line">
            <a:avLst/>
          </a:prstGeom>
          <a:noFill/>
          <a:ln w="22225">
            <a:solidFill>
              <a:srgbClr val="5AA7BC"/>
            </a:solidFill>
            <a:prstDash val="dash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625328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 GHz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18320" y="3877056"/>
            <a:ext cx="2194560" cy="713232"/>
          </a:xfrm>
          <a:prstGeom prst="roundRect">
            <a:avLst>
              <a:gd name="adj" fmla="val 6410"/>
            </a:avLst>
          </a:prstGeom>
          <a:solidFill>
            <a:srgbClr val="0F1720"/>
          </a:solidFill>
          <a:ln w="12700">
            <a:solidFill>
              <a:srgbClr val="9FB3C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BLE adverts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GATT peers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·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project exists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Sniffing BLE is heavy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Proprietary capture hardware, Wireshark, and a fresh one-off parser script for every device you meet.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5349240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05456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Firmware logic is frozen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filter tweak or new payload format is a rebuild–reflash–retest cycle on the bench.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57200" y="3310128"/>
            <a:ext cx="5349240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38144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human sits in every loop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Someone has to read the capture, spot the pattern, and write the next probe script by hand.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172200" y="1600200"/>
            <a:ext cx="5559552" cy="2103120"/>
          </a:xfrm>
          <a:prstGeom prst="roundRect">
            <a:avLst>
              <a:gd name="adj" fmla="val 2609"/>
            </a:avLst>
          </a:prstGeom>
          <a:solidFill>
            <a:srgbClr val="E8F3F6"/>
          </a:solidFill>
          <a:ln>
            <a:solidFill>
              <a:srgbClr val="E8F3F6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 a Lua sandbox on a $5 radio — and hand the keyboard to an LLM.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dongle keeps watch, the model reads the traffic, and new tooling ships over USB in seconds — not reflash cycles.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315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CLOSED LOOP — ALREADY RUNNING LIVE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4681728"/>
            <a:ext cx="20116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lines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633472" y="5120640"/>
            <a:ext cx="219456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852928" y="4681728"/>
            <a:ext cx="20116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reads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64608" y="5120640"/>
            <a:ext cx="219456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084064" y="4681728"/>
            <a:ext cx="2011680" cy="868680"/>
          </a:xfrm>
          <a:prstGeom prst="roundRect">
            <a:avLst>
              <a:gd name="adj" fmla="val 5263"/>
            </a:avLst>
          </a:prstGeom>
          <a:solidFill>
            <a:srgbClr val="E8F3F6"/>
          </a:solidFill>
          <a:ln w="12700">
            <a:solidFill>
              <a:srgbClr val="0E749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Lua tool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95744" y="5120640"/>
            <a:ext cx="219456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315200" y="4681728"/>
            <a:ext cx="20116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USB · sandboxed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326880" y="5120640"/>
            <a:ext cx="219456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546336" y="4681728"/>
            <a:ext cx="20116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scan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627632" y="5550408"/>
            <a:ext cx="0" cy="283464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0552176" y="5550408"/>
            <a:ext cx="0" cy="283464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0552176" y="5833872"/>
            <a:ext cx="-8924544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840480" y="58704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…and the next iteration can use the new tool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92840" y="64556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· 10,000 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29200" cy="4251960"/>
          </a:xfrm>
          <a:prstGeom prst="roundRect">
            <a:avLst>
              <a:gd name="adj" fmla="val 1290"/>
            </a:avLst>
          </a:prstGeom>
          <a:solidFill>
            <a:srgbClr val="F1F5F7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PC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938528"/>
            <a:ext cx="457200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LLM — OpenAI-compatible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Qwen (DashScope) active today · DeepSeek, OpenRouter, Ollama drop-in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3145536"/>
            <a:ext cx="457200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tools — Python, ~2.8k lines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llm_loop.py · run_case.py · assistant.py, deliberately self-contained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4352544"/>
            <a:ext cx="457200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suites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Unity C 126 · pytest 151 · one-command hardware gate run_all_hw.py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0" y="2377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commands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32120" y="2724912"/>
            <a:ext cx="132588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486400" y="3127248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 w="12700">
            <a:solidFill>
              <a:srgbClr val="0E749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USB CDC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532120" y="3986784"/>
            <a:ext cx="132588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headEnd type="triangl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349240" y="407822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lines ≤512B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tagged with cmd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1417320"/>
            <a:ext cx="2880360" cy="42519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ESP32-S3 DONGLE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0" y="1938528"/>
            <a:ext cx="2514600" cy="786384"/>
          </a:xfrm>
          <a:prstGeom prst="roundRect">
            <a:avLst>
              <a:gd name="adj" fmla="val 5814"/>
            </a:avLst>
          </a:prstGeom>
          <a:solidFill>
            <a:srgbClr val="F1F5F7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NimBLE observer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passive, continuous scan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32320" y="2852928"/>
            <a:ext cx="2514600" cy="786384"/>
          </a:xfrm>
          <a:prstGeom prst="roundRect">
            <a:avLst>
              <a:gd name="adj" fmla="val 5814"/>
            </a:avLst>
          </a:prstGeom>
          <a:solidFill>
            <a:srgbClr val="F1F5F7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pipeline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 → filter → hook → JSON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32320" y="3767328"/>
            <a:ext cx="2514600" cy="786384"/>
          </a:xfrm>
          <a:prstGeom prst="roundRect">
            <a:avLst>
              <a:gd name="adj" fmla="val 5814"/>
            </a:avLst>
          </a:prstGeom>
          <a:solidFill>
            <a:srgbClr val="E8F3F6"/>
          </a:solidFill>
          <a:ln w="12700">
            <a:solidFill>
              <a:srgbClr val="0E749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Lua 5.4 sandbox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128 KB static pool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32320" y="4681728"/>
            <a:ext cx="2514600" cy="786384"/>
          </a:xfrm>
          <a:prstGeom prst="roundRect">
            <a:avLst>
              <a:gd name="adj" fmla="val 5814"/>
            </a:avLst>
          </a:prstGeom>
          <a:solidFill>
            <a:srgbClr val="F1F5F7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 central (opt.)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GATT peer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058400" y="14813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BLE · 2.4 GHz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2057400"/>
            <a:ext cx="167335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adverts from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nearby device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058400" y="3703320"/>
            <a:ext cx="167335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GATT peer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notify or polled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829800" y="2542032"/>
            <a:ext cx="228600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dash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29800" y="4187952"/>
            <a:ext cx="228600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dash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dongle never exposes BLE toward the host — host traffic rides USB only; the radio is the product. Every box on this slide is a later slide.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292840" y="64556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DONGLE FIRMWARE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Nine components, ~5.7k lines of authored 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2688336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554480"/>
            <a:ext cx="23957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USB console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166 L · firmware/components/usb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USB-Serial/JTAG line I/O; the Ctrl+C interrupt path.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19272" y="1444752"/>
            <a:ext cx="2688336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65576" y="1554480"/>
            <a:ext cx="23957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174 L · firmware/components/storage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LittleFS — 8 KB script slot at /littlefs/script.lua.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1344" y="1444752"/>
            <a:ext cx="2688336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27648" y="1554480"/>
            <a:ext cx="23957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BLE scan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355 L · firmware/components/ble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NimBLE observer; FNV-1a dedup in a ~1 s window.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43416" y="1444752"/>
            <a:ext cx="2688336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89720" y="1554480"/>
            <a:ext cx="23957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BLE conn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1,110 L · firmware/components/ble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GATT central; subscribe with poll fallback.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45536"/>
            <a:ext cx="2688336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3255264"/>
            <a:ext cx="23957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 parser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217 L · firmware/components/ad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decodes AD structures: name, UUIDs, manufacturer data.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19272" y="3145536"/>
            <a:ext cx="2688336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65576" y="3255264"/>
            <a:ext cx="23957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encoder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739 L · firmware/components/json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line per event, ≤512 B, all dynamic text escaped.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81344" y="3145536"/>
            <a:ext cx="2688336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27648" y="3255264"/>
            <a:ext cx="23957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engine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246 L · firmware/components/filter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16 C rules evaluated on the hot path.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43416" y="3145536"/>
            <a:ext cx="2688336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89720" y="3255264"/>
            <a:ext cx="23957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Lua + pool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962 L · firmware/components/lua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Lua 5.4 sandbox; 128 KB static pool allocator.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010912"/>
            <a:ext cx="11274552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1206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 on the die:  </a:t>
            </a:r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 978 L — command dispatch + IDLE / SCANNING / SCRIPT_RUNNING state guards · bridge 254 L — per-line sandbox scan on script upload · power 187 L — auto light sleep with PM locks.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7790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55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 init chain → usb → storage → cli → ble → [conn] → pipeline → lua → bridge → power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~29k lines of vendored Lua 5.4 (unmodified upstream) — full firmware tree ≈35.8k lines. Modules talk only through interfaces/*_if.h headers (~1.2k lines).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92840" y="64556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DONGLE FIRMWARE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packet's journey: radio to JSON 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PLANE — EVERY ADVERT IN RANGE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13716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NimBLE observer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scanning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28800" y="2167128"/>
            <a:ext cx="278892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107692" y="1664208"/>
            <a:ext cx="13716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FNV-1a · ~1 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9292" y="2167128"/>
            <a:ext cx="278892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758184" y="1664208"/>
            <a:ext cx="13716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 parse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 layer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29784" y="2167128"/>
            <a:ext cx="278892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408676" y="1664208"/>
            <a:ext cx="13716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filter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≤16 rules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80276" y="2167128"/>
            <a:ext cx="278892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059168" y="1664208"/>
            <a:ext cx="13716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Lua on_adv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/ drop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30768" y="2167128"/>
            <a:ext cx="278892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709660" y="1664208"/>
            <a:ext cx="13716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encode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≤512 B line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081260" y="2167128"/>
            <a:ext cx="278892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360152" y="1664208"/>
            <a:ext cx="13716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USB TX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mutex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3035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 PLANE — ONE GATT PEER, OPT-IN (F2.4)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" y="3346704"/>
            <a:ext cx="207568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GATT connect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UUID or address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s timeout · 5 retries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0" y="3858768"/>
            <a:ext cx="205740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766060" y="3346704"/>
            <a:ext cx="207568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subscribe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notify / indicate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1748" y="3858768"/>
            <a:ext cx="205740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047488" y="3346704"/>
            <a:ext cx="207568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CCCD?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poll reads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100–10 000 ms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23176" y="3858768"/>
            <a:ext cx="205740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328916" y="3346704"/>
            <a:ext cx="207568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payloads tagged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from_poll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404604" y="3858768"/>
            <a:ext cx="205740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9610344" y="3346704"/>
            <a:ext cx="207568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re-stream as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{"src":"conn"} lines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4681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INVARIANTS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992624"/>
            <a:ext cx="2688336" cy="822960"/>
          </a:xfrm>
          <a:prstGeom prst="roundRect">
            <a:avLst>
              <a:gd name="adj" fmla="val 5556"/>
            </a:avLst>
          </a:prstGeom>
          <a:solidFill>
            <a:srgbClr val="F1F5F7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zero-malloc hot path — static buffers end to end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19272" y="4992624"/>
            <a:ext cx="2688336" cy="822960"/>
          </a:xfrm>
          <a:prstGeom prst="roundRect">
            <a:avLst>
              <a:gd name="adj" fmla="val 5556"/>
            </a:avLst>
          </a:prstGeom>
          <a:solidFill>
            <a:srgbClr val="F1F5F7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guards −911: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IDLE / SCANNING / SCRIPT_RUNNING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81344" y="4992624"/>
            <a:ext cx="2688336" cy="822960"/>
          </a:xfrm>
          <a:prstGeom prst="roundRect">
            <a:avLst>
              <a:gd name="adj" fmla="val 5556"/>
            </a:avLst>
          </a:prstGeom>
          <a:solidFill>
            <a:srgbClr val="F1F5F7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Ctrl+C (0x03) breaks in anywhere — even mid-poll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43416" y="4992624"/>
            <a:ext cx="2688336" cy="822960"/>
          </a:xfrm>
          <a:prstGeom prst="roundRect">
            <a:avLst>
              <a:gd name="adj" fmla="val 5556"/>
            </a:avLst>
          </a:prstGeom>
          <a:solidFill>
            <a:srgbClr val="F1F5F7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TX mutex — output lines never interleave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plane runs in one pipeline task (prio 2); the CLI task (prio 5) stays responsive through all of it. The conn plane is a separate worker task (4 KB stack).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292840" y="64556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BLUETOOTH &amp; USB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planes: BLE toward the world, USB toward the host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13248" cy="4370832"/>
          </a:xfrm>
          <a:prstGeom prst="roundRect">
            <a:avLst>
              <a:gd name="adj" fmla="val 1464"/>
            </a:avLst>
          </a:prstGeom>
          <a:solidFill>
            <a:srgbClr val="F1F5F7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4846320" cy="457200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BLE · 2.4 GHz — toward the world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4864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Passive observer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discovery on BLE_HS_FOREVER — sees every device without connecting.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3136392"/>
            <a:ext cx="4864608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27832"/>
            <a:ext cx="4864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central (F2.4)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opt-in via Kconfig; connects by advertised service UUID or direct address.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4032504"/>
            <a:ext cx="4864608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123944"/>
            <a:ext cx="4864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Subscribe, then poll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notify / indicate first; if the CCCD write fails, GATT reads every 100–10 000 ms.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4928616"/>
            <a:ext cx="4864608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020056"/>
            <a:ext cx="4864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teardown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 STOP returning ok ≠ off — hosts wait for CONN STATUS state:"off".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18504" y="1463040"/>
            <a:ext cx="5413248" cy="4370832"/>
          </a:xfrm>
          <a:prstGeom prst="roundRect">
            <a:avLst>
              <a:gd name="adj" fmla="val 1464"/>
            </a:avLst>
          </a:prstGeom>
          <a:solidFill>
            <a:srgbClr val="F1F5F7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2824" y="1691640"/>
            <a:ext cx="4846320" cy="457200"/>
          </a:xfrm>
          <a:prstGeom prst="roundRect">
            <a:avLst>
              <a:gd name="adj" fmla="val 10000"/>
            </a:avLst>
          </a:prstGeom>
          <a:solidFill>
            <a:srgbClr val="155E75"/>
          </a:solidFill>
          <a:ln>
            <a:solidFill>
              <a:srgbClr val="155E7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USB · CDC 115200 — toward the host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2824" y="2331720"/>
            <a:ext cx="4864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in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 text commands; CR, LF, or CRLF line endings all accepted.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92824" y="3136392"/>
            <a:ext cx="4864608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3227832"/>
            <a:ext cx="4864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Ctrl+C = interrupt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0x03 is polled even inside the conn worker — no command can lock the CLI.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92824" y="4032504"/>
            <a:ext cx="4864608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92824" y="4123944"/>
            <a:ext cx="4864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lines out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object per line, ≤512 B, serialized through a single TX mutex.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92824" y="4928616"/>
            <a:ext cx="4864608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92824" y="5020056"/>
            <a:ext cx="4864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port open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closing COM12 toggles USB power and resets the chip (ESP_RST_USB, note N3).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planes share one CLI dispatcher and one error model — hosts react programmatically instead of parsing prose.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92840" y="64556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BLUETOOTH &amp; USB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wire contract: text lines in, JSON lines out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0F1720"/>
          </a:solidFill>
          <a:ln w="12700">
            <a:solidFill>
              <a:srgbClr val="0F172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720072" y="1481328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0F1720"/>
          </a:solidFill>
          <a:ln w="12700">
            <a:solidFill>
              <a:srgbClr val="0F172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DONGLE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54480" y="4846320"/>
            <a:ext cx="0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0634472" y="4846320"/>
            <a:ext cx="0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737360" y="21488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START\r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54480" y="2395728"/>
            <a:ext cx="9079992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737360" y="2788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{"cmd":"scan","status":"ok","state":"SCANNING"}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54480" y="3035808"/>
            <a:ext cx="9079992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headEnd type="triangl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737360" y="35204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 LOAD  →  paste Lua lines  →  SCRIPT 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54480" y="3767328"/>
            <a:ext cx="9079992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737360" y="4251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{"cmd":"script","status":"loaded"}   ·   per-line sandbox scan → −612 on reject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54480" y="4498848"/>
            <a:ext cx="9079992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headEnd type="triangl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457200" y="5138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MODEL — EVERY MODULE OWNS A 100-WIDE NEGATIVE RANGE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468112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F1F5F7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5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 −1xx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87068" y="5468112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F1F5F7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5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−2xx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16936" y="5468112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F1F5F7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5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−3xx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46804" y="5468112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F1F5F7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5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BLE −4xx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76672" y="5468112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F1F5F7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5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USB −5xx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06540" y="5468112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F1F5F7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5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LUA −6xx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36408" y="5468112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F1F5F7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5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 −7xx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66276" y="5468112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F1F5F7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5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 −8xx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96144" y="5468112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F1F5F7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5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 −9xx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response carries its cmd, so hosts match answers to questions even when lines arrive stale — 76 CLI responses are strict-JSON-validated by tests.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292840" y="64556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LUA TOOL REGISTRY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H6.1 · A tool pack is just a Lua 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989320" cy="4343400"/>
          </a:xfrm>
          <a:prstGeom prst="roundRect">
            <a:avLst>
              <a:gd name="adj" fmla="val 1684"/>
            </a:avLst>
          </a:prstGeom>
          <a:solidFill>
            <a:srgbClr val="0F1720"/>
          </a:solidFill>
          <a:ln/>
          <a:effectLst>
            <a:outerShdw sx="100000" sy="100000" kx="0" ky="0" algn="bl" rotWithShape="0" blurRad="88900" dist="25400" dir="5400000">
              <a:srgbClr val="0F172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691640"/>
            <a:ext cx="5486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host_app/tool_packs/demo.lua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private globals carry the pack prefix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demo_t0 = nil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every tool: ONE table arg, returns a string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mean(a)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 s = 0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_, v in ipairs(a.numbers) do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s + v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string.format("%.3f",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 / #a.numbers)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manifest(): JSON, one piece per line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manifest()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'{"version":1,"name":"demo",'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 '"tools":[{"name":"mean", …]}'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720840" y="1517904"/>
            <a:ext cx="5010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statement per line, ≤240 B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packs ride the existing LUA EXEC path unchanged — zero firmware changes in M1.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20840" y="2423160"/>
            <a:ext cx="5010912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2542032"/>
            <a:ext cx="5010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manifest() is the API surface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name, doc, typed args, returns, mutating flag, example — fetched in 180 B chunks (8 KB budget).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20840" y="3447288"/>
            <a:ext cx="5010912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3566160"/>
            <a:ext cx="5010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table argument, always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mean({numbers = {3, 5, 10}}) — the system prompt teaches the model this exact shape.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20840" y="4471416"/>
            <a:ext cx="5010912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4590288"/>
            <a:ext cx="5010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registry is host-side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/tools caches manifests authoritatively; refresh detects a device reset and clears stale entries.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0840" y="5742432"/>
            <a:ext cx="1572768" cy="502920"/>
          </a:xfrm>
          <a:prstGeom prst="roundRect">
            <a:avLst>
              <a:gd name="adj" fmla="val 9091"/>
            </a:avLst>
          </a:prstGeom>
          <a:solidFill>
            <a:srgbClr val="E8F3F6"/>
          </a:solidFill>
          <a:ln w="12700">
            <a:solidFill>
              <a:srgbClr val="E8F3F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demo tools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39912" y="5742432"/>
            <a:ext cx="1572768" cy="502920"/>
          </a:xfrm>
          <a:prstGeom prst="roundRect">
            <a:avLst>
              <a:gd name="adj" fmla="val 9091"/>
            </a:avLst>
          </a:prstGeom>
          <a:solidFill>
            <a:srgbClr val="E8F3F6"/>
          </a:solidFill>
          <a:ln w="12700">
            <a:solidFill>
              <a:srgbClr val="E8F3F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79 → 108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58984" y="5742432"/>
            <a:ext cx="1572768" cy="502920"/>
          </a:xfrm>
          <a:prstGeom prst="roundRect">
            <a:avLst>
              <a:gd name="adj" fmla="val 9091"/>
            </a:avLst>
          </a:prstGeom>
          <a:solidFill>
            <a:srgbClr val="E8F3F6"/>
          </a:solidFill>
          <a:ln w="12700">
            <a:solidFill>
              <a:srgbClr val="E8F3F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firmware changes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Loads are RAM-only (LUA EXEC run mode) and confirm-gated — nothing persists to LittleFS until milestone M2 (design decision 14).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92840" y="64556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LUA TOOL REGISTRY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/tools to a cap-3 execution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REGISTRATION — /tools refresh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1645920"/>
            <a:ext cx="2075688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/tools refresh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asks the device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0" y="2185416"/>
            <a:ext cx="205740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766060" y="1645920"/>
            <a:ext cx="2075688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LUA EXEC return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string.sub(manifest(), i, j)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 B chunks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1748" y="2185416"/>
            <a:ext cx="205740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047488" y="1645920"/>
            <a:ext cx="2075688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validation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JSON · no reserved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duplicate names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23176" y="2185416"/>
            <a:ext cx="205740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328916" y="1645920"/>
            <a:ext cx="2075688" cy="1078992"/>
          </a:xfrm>
          <a:prstGeom prst="roundRect">
            <a:avLst>
              <a:gd name="adj" fmla="val 4237"/>
            </a:avLst>
          </a:prstGeom>
          <a:solidFill>
            <a:srgbClr val="FDEFE7"/>
          </a:solidFill>
          <a:ln w="12700">
            <a:solidFill>
              <a:srgbClr val="E8590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collision check — duplicate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packs &amp; tool names rejected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any line is sent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404604" y="2185416"/>
            <a:ext cx="205740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610344" y="1645920"/>
            <a:ext cx="2075688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[y/N] confirm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loaded to RAM only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3035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GENERATE-AND-EXECUTE — INSIDE ONE USER TURN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" y="3639312"/>
            <a:ext cx="24231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asks a question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live traffic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07792" y="4096512"/>
            <a:ext cx="310896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218688" y="3639312"/>
            <a:ext cx="24231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composes a tool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 from the registry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41848" y="4096512"/>
            <a:ext cx="310896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952744" y="3639312"/>
            <a:ext cx="24231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runs it line-by-line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dongle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75904" y="4096512"/>
            <a:ext cx="310896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686800" y="3639312"/>
            <a:ext cx="24231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tool&gt; 6.000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fed back to the model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898380" y="3401568"/>
            <a:ext cx="0" cy="237744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898380" y="3401568"/>
            <a:ext cx="-5468112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430268" y="3401568"/>
            <a:ext cx="0" cy="237744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120640" y="3172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result informs the next program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5029200"/>
            <a:ext cx="11274552" cy="713232"/>
          </a:xfrm>
          <a:prstGeom prst="roundRect">
            <a:avLst>
              <a:gd name="adj" fmla="val 7692"/>
            </a:avLst>
          </a:prstGeom>
          <a:solidFill>
            <a:srgbClr val="FDEFE7"/>
          </a:solidFill>
          <a:ln w="15875">
            <a:solidFill>
              <a:srgbClr val="E8590C"/>
            </a:solidFill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 3 — at most three consecutive executions per turn, then one corrective round forces a plain answer. A device error (e.g. sandbox −612) becomes the model's next hint instead of a crash.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Live-verified 2026-09-03 — first real-hardware runs caught a stray brace and a nan-convention bug (evidence logs in harness/02-knowledge/). Programs defining on_adv / transform / manifest still take the human deploy gate.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292840" y="64556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HOST LLM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self-contained Python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02736" cy="3035808"/>
          </a:xfrm>
          <a:prstGeom prst="roundRect">
            <a:avLst>
              <a:gd name="adj" fmla="val 2108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62763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llm_loop.py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H5.1 · 486 lines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6656" y="2304288"/>
            <a:ext cx="3200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/ analyze / deploy / loop — one subcommand each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caps prompts at 30 deduplicated lines to bound token cost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--dry-run works fully offline, no key needed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3108" y="1463040"/>
            <a:ext cx="3602736" cy="3035808"/>
          </a:xfrm>
          <a:prstGeom prst="roundRect">
            <a:avLst>
              <a:gd name="adj" fmla="val 2108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12564" y="162763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run_case.py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H5.2 · 813 lines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12564" y="2304288"/>
            <a:ext cx="3200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harness + a controlled GATT peer on the PC (WinRT)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--estimate: the LLM's JSON answer is checked against physics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first_order &amp; first_order_poll cases with ground-truth verdicts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29016" y="1463040"/>
            <a:ext cx="3602736" cy="3035808"/>
          </a:xfrm>
          <a:prstGeom prst="roundRect">
            <a:avLst>
              <a:gd name="adj" fmla="val 2108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48472" y="162763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assistant.py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H5.3 + H6.1 · 1,544 lines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48472" y="2304288"/>
            <a:ext cx="3200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REPL over the live dongle, both planes drained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envelopes: answer · lua · clarify · error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/scan /conn /deploy /tools — sessions tee'd to timestamped logs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 SAFETY CHAIN — WHAT HAPPENS TO EVERY GENERATED SCRIPT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" y="5047488"/>
            <a:ext cx="2075688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replies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{type:"lua", code}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60320" y="5449824"/>
            <a:ext cx="205740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766060" y="5047488"/>
            <a:ext cx="2075688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parses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JSON · one retry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1748" y="5449824"/>
            <a:ext cx="205740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047488" y="5047488"/>
            <a:ext cx="2075688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gate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deploy? [y/N]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23176" y="5449824"/>
            <a:ext cx="205740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328916" y="5047488"/>
            <a:ext cx="2075688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 LOAD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per-line sandbox scan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404604" y="5449824"/>
            <a:ext cx="205740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610344" y="5047488"/>
            <a:ext cx="2075688" cy="804672"/>
          </a:xfrm>
          <a:prstGeom prst="roundRect">
            <a:avLst>
              <a:gd name="adj" fmla="val 5682"/>
            </a:avLst>
          </a:prstGeom>
          <a:solidFill>
            <a:srgbClr val="FDEFE7"/>
          </a:solidFill>
          <a:ln w="12700">
            <a:solidFill>
              <a:srgbClr val="E8590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 gate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−612 = reject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three tools deliberately share conventions but zero code — parallel AI sessions can build features on disjoint branches without collisions.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92840" y="64556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HOST LLM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client, any OpenAI-compatible provider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892040" cy="4370832"/>
          </a:xfrm>
          <a:prstGeom prst="roundRect">
            <a:avLst>
              <a:gd name="adj" fmla="val 1464"/>
            </a:avLst>
          </a:prstGeom>
          <a:solidFill>
            <a:srgbClr val="F1F5F7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 — .llm_env (gitignored)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Provider-agnostic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/chat/completions endpoint: OpenAI, DashScope (Qwen — active today), DeepSeek, OpenRouter, local Ollama.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4343400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55848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 wins as a unit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shell has any LLM_* variable, the whole config comes from env; otherwise the file — never mixed. Mixing = guaranteed 401 (observed).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4453128"/>
            <a:ext cx="4343400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562856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Thinking off by default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QWEN_ENABLE_THINKING=false — reasoning models stall &gt;180 s on script-generation prompts.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760720" y="1463040"/>
            <a:ext cx="5971032" cy="548640"/>
          </a:xfrm>
          <a:prstGeom prst="roundRect">
            <a:avLst>
              <a:gd name="adj" fmla="val 8333"/>
            </a:avLst>
          </a:prstGeom>
          <a:solidFill>
            <a:srgbClr val="0E7490"/>
          </a:solidFill>
          <a:ln w="12700">
            <a:solidFill>
              <a:srgbClr val="0E749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/chat/completions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178040" y="2011680"/>
            <a:ext cx="0" cy="292608"/>
          </a:xfrm>
          <a:prstGeom prst="line">
            <a:avLst/>
          </a:prstGeom>
          <a:noFill/>
          <a:ln w="19050">
            <a:solidFill>
              <a:srgbClr val="5AA7B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332720" y="2011680"/>
            <a:ext cx="0" cy="292608"/>
          </a:xfrm>
          <a:prstGeom prst="line">
            <a:avLst/>
          </a:prstGeom>
          <a:noFill/>
          <a:ln w="19050">
            <a:solidFill>
              <a:srgbClr val="5AA7BC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760720" y="23408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A · AUTH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42832" y="23408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B · WRONG DIALECT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2670048"/>
            <a:ext cx="2788920" cy="658368"/>
          </a:xfrm>
          <a:prstGeom prst="roundRect">
            <a:avLst>
              <a:gd name="adj" fmla="val 6944"/>
            </a:avLst>
          </a:prstGeom>
          <a:solidFill>
            <a:srgbClr val="FDEFE7"/>
          </a:solidFill>
          <a:ln w="15875">
            <a:solidFill>
              <a:srgbClr val="E8590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401 — key rejected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55180" y="3328416"/>
            <a:ext cx="0" cy="182880"/>
          </a:xfrm>
          <a:prstGeom prst="line">
            <a:avLst/>
          </a:prstGeom>
          <a:noFill/>
          <a:ln w="19050">
            <a:solidFill>
              <a:srgbClr val="5AA7BC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760720" y="3511296"/>
            <a:ext cx="27889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announced retry on .llm_env credentials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55180" y="4169664"/>
            <a:ext cx="0" cy="182880"/>
          </a:xfrm>
          <a:prstGeom prst="line">
            <a:avLst/>
          </a:prstGeom>
          <a:noFill/>
          <a:ln w="19050">
            <a:solidFill>
              <a:srgbClr val="5AA7BC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760720" y="4352544"/>
            <a:ext cx="2788920" cy="658368"/>
          </a:xfrm>
          <a:prstGeom prst="roundRect">
            <a:avLst>
              <a:gd name="adj" fmla="val 6944"/>
            </a:avLst>
          </a:prstGeom>
          <a:solidFill>
            <a:srgbClr val="E8F3F6"/>
          </a:solidFill>
          <a:ln w="9525">
            <a:solidFill>
              <a:srgbClr val="E8F3F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200 — session continues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42832" y="2670048"/>
            <a:ext cx="2788920" cy="658368"/>
          </a:xfrm>
          <a:prstGeom prst="roundRect">
            <a:avLst>
              <a:gd name="adj" fmla="val 6944"/>
            </a:avLst>
          </a:prstGeom>
          <a:solidFill>
            <a:srgbClr val="FDEFE7"/>
          </a:solidFill>
          <a:ln w="15875">
            <a:solidFill>
              <a:srgbClr val="E8590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404 — base ends /api/v1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337292" y="3328416"/>
            <a:ext cx="0" cy="182880"/>
          </a:xfrm>
          <a:prstGeom prst="line">
            <a:avLst/>
          </a:prstGeom>
          <a:noFill/>
          <a:ln w="19050">
            <a:solidFill>
              <a:srgbClr val="5AA7BC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942832" y="3511296"/>
            <a:ext cx="27889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 to /compatible-mode/v1, retry once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337292" y="4169664"/>
            <a:ext cx="0" cy="182880"/>
          </a:xfrm>
          <a:prstGeom prst="line">
            <a:avLst/>
          </a:prstGeom>
          <a:noFill/>
          <a:ln w="19050">
            <a:solidFill>
              <a:srgbClr val="5AA7BC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942832" y="4352544"/>
            <a:ext cx="2788920" cy="658368"/>
          </a:xfrm>
          <a:prstGeom prst="roundRect">
            <a:avLst>
              <a:gd name="adj" fmla="val 6944"/>
            </a:avLst>
          </a:prstGeom>
          <a:solidFill>
            <a:srgbClr val="E8F3F6"/>
          </a:solidFill>
          <a:ln w="9525">
            <a:solidFill>
              <a:srgbClr val="E8F3F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200 — new base sticks for the session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0" y="5230368"/>
            <a:ext cx="597103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timeouts are caught and surfaced as an envelope type:error — the session survives every provider hiccup.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three host tools self-heal identically — the convention is copied, not shared (same isolation rule as slide 10).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292840" y="64556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HOST LLM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 closes on real hardware: first-order plant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 simulates plant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y′ = (K·u − y) / 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148840" y="2084832"/>
            <a:ext cx="146304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295144" y="160020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 serves it over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WinRT GATT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986784" y="2084832"/>
            <a:ext cx="146304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133088" y="160020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dongle auto-connects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service UUID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24728" y="2084832"/>
            <a:ext cx="146304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971032" y="160020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re-streams {"src":"conn"}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JSONL — 60/60 lines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662672" y="2084832"/>
            <a:ext cx="146304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808976" y="160020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returns JSON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 of 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500616" y="2084832"/>
            <a:ext cx="146304" cy="0"/>
          </a:xfrm>
          <a:prstGeom prst="line">
            <a:avLst/>
          </a:prstGeom>
          <a:noFill/>
          <a:ln w="22225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646920" y="160020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checks vs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 truth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2871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FIRST_ORDER_POLL — THE DONGLE MUST POLL; NOTIFICATIONS DISABLED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127248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9.5</a:t>
            </a:r>
            <a:endParaRPr lang="en-US" sz="10000" dirty="0"/>
          </a:p>
        </p:txBody>
      </p:sp>
      <p:sp>
        <p:nvSpPr>
          <p:cNvPr id="17" name="Text 15"/>
          <p:cNvSpPr/>
          <p:nvPr/>
        </p:nvSpPr>
        <p:spPr>
          <a:xfrm>
            <a:off x="3703320" y="3401568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τ̂ — the LLM's estimate, from raw JSONL alone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τ = 10.0 · error −5 %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±10 % tolerance → PASS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3760" y="3218688"/>
            <a:ext cx="4507992" cy="566928"/>
          </a:xfrm>
          <a:prstGeom prst="roundRect">
            <a:avLst>
              <a:gd name="adj" fmla="val 8065"/>
            </a:avLst>
          </a:prstGeom>
          <a:solidFill>
            <a:srgbClr val="F1F5F7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 / 60 conn lines captured — zero drops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223760" y="3931920"/>
            <a:ext cx="4507992" cy="566928"/>
          </a:xfrm>
          <a:prstGeom prst="roundRect">
            <a:avLst>
              <a:gd name="adj" fmla="val 8065"/>
            </a:avLst>
          </a:prstGeom>
          <a:solidFill>
            <a:srgbClr val="F1F5F7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 truth: 63.2 %-of-K settling rule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223760" y="4645152"/>
            <a:ext cx="4507992" cy="566928"/>
          </a:xfrm>
          <a:prstGeom prst="roundRect">
            <a:avLst>
              <a:gd name="adj" fmla="val 8065"/>
            </a:avLst>
          </a:prstGeom>
          <a:solidFill>
            <a:srgbClr val="F1F5F7"/>
          </a:solidFill>
          <a:ln w="12700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notify variant (first_order) passes the same gate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run, Aug 2026 — capture JSONL and transcript archived under harness/02-knowledge/ (README: host cases).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92840" y="64556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HARNESS &amp;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C unit tests to a one-command hardware gate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9037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3524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HARDWARE GATE — ONE COMMAND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35240" y="1682496"/>
            <a:ext cx="409651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tests/hw/run_all_hw.py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9683496" y="2395728"/>
            <a:ext cx="0" cy="192024"/>
          </a:xfrm>
          <a:prstGeom prst="line">
            <a:avLst/>
          </a:prstGeom>
          <a:noFill/>
          <a:ln w="19050">
            <a:solidFill>
              <a:srgbClr val="5AA7BC"/>
            </a:solidFill>
            <a:prstDash val="solid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7635240" y="2587752"/>
            <a:ext cx="409651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assert firmware VERSION first — wrong build stops everything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683496" y="3300984"/>
            <a:ext cx="0" cy="192024"/>
          </a:xfrm>
          <a:prstGeom prst="line">
            <a:avLst/>
          </a:prstGeom>
          <a:noFill/>
          <a:ln w="19050">
            <a:solidFill>
              <a:srgbClr val="5AA7BC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7635240" y="3493008"/>
            <a:ext cx="409651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suites as subprocesses — transcripts teed to evidence/&lt;ts&gt;/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83496" y="4206240"/>
            <a:ext cx="0" cy="192024"/>
          </a:xfrm>
          <a:prstGeom prst="line">
            <a:avLst/>
          </a:prstGeom>
          <a:noFill/>
          <a:ln w="19050">
            <a:solidFill>
              <a:srgbClr val="5AA7BC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7635240" y="4398264"/>
            <a:ext cx="409651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D8E0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EACH suite: reset_reason must be 11 (USB) or None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83496" y="5111496"/>
            <a:ext cx="0" cy="192024"/>
          </a:xfrm>
          <a:prstGeom prst="line">
            <a:avLst/>
          </a:prstGeom>
          <a:noFill/>
          <a:ln w="19050">
            <a:solidFill>
              <a:srgbClr val="5AA7BC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7635240" y="5303520"/>
            <a:ext cx="4096512" cy="713232"/>
          </a:xfrm>
          <a:prstGeom prst="roundRect">
            <a:avLst>
              <a:gd name="adj" fmla="val 6410"/>
            </a:avLst>
          </a:prstGeom>
          <a:solidFill>
            <a:srgbClr val="E8F3F6"/>
          </a:solidFill>
          <a:ln w="19050">
            <a:solidFill>
              <a:srgbClr val="0E749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green = the merge gate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Unity C 126 = 108 unit + 10 response-contract + 8 fuzz — the fuzzer's first run found 3 real encoder defects. Soaks (2 h adv, conn reconnect every 300 s) run outside the gate. Source: tests/README.md · BRANCH.zcode.md.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292840" y="64556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HARNESS &amp;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was earned the boring way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Fuzz from day one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LCG inputs through both JSON encoders, a strict-JSON oracle, and every small buffer size.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1554480"/>
            <a:ext cx="3319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000" dirty="0"/>
          </a:p>
          <a:p>
            <a:pPr algn="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encoder defects</a:t>
            </a:r>
            <a:endParaRPr lang="en-US" sz="3000" dirty="0"/>
          </a:p>
          <a:p>
            <a:pPr algn="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&amp; fixed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11274552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24912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Golden transcripts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frozen real device noise — ANSI NimBLE logs, CLI echoes, boot lines — replayed as fixtures; tripped a real stale-line weakness.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0" y="2724912"/>
            <a:ext cx="3319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</a:t>
            </a:r>
            <a:endParaRPr lang="en-US" sz="3000" dirty="0"/>
          </a:p>
          <a:p>
            <a:pPr algn="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 responses strict-JSON</a:t>
            </a:r>
            <a:endParaRPr lang="en-US" sz="3000" dirty="0"/>
          </a:p>
          <a:p>
            <a:pPr algn="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re-validated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1274552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95344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Soak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h advertisement soak watching the Lua pool for fragmentation; conn soak tearing down and reconnecting every 300 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3895344"/>
            <a:ext cx="3319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h+</a:t>
            </a:r>
            <a:endParaRPr lang="en-US" sz="3000" dirty="0"/>
          </a:p>
          <a:p>
            <a:pPr algn="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 soak + conn soak,</a:t>
            </a:r>
            <a:endParaRPr lang="en-US" sz="3000" dirty="0"/>
          </a:p>
          <a:p>
            <a:pPr algn="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leaks, no drift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4919472"/>
            <a:ext cx="11274552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065776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ledger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evaluation logged and re-run per stage: 30+6 initial findings → 28 all-stage → 7 at v1.0.0 → all resolved; sessions file evidence in harness/02-knowledge/.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5065776"/>
            <a:ext cx="3319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</a:t>
            </a:r>
            <a:endParaRPr lang="en-US" sz="3000" dirty="0"/>
          </a:p>
          <a:p>
            <a:pPr algn="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 FINDINGS</a:t>
            </a:r>
            <a:endParaRPr lang="en-US" sz="3000" dirty="0"/>
          </a:p>
          <a:p>
            <a:pPr algn="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RESOLVED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Numbers from bug_check/README.md, tests/README.md and FEATURES.zcode.md.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292840" y="64556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HARNESS &amp;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workflow: proposals, branches, manifests,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3794760"/>
            <a:ext cx="4846320" cy="0"/>
          </a:xfrm>
          <a:prstGeom prst="line">
            <a:avLst/>
          </a:prstGeom>
          <a:noFill/>
          <a:ln w="2857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04672" y="3730752"/>
            <a:ext cx="128016" cy="12801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84832" y="3730752"/>
            <a:ext cx="128016" cy="12801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64992" y="3730752"/>
            <a:ext cx="128016" cy="12801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10912" y="3730752"/>
            <a:ext cx="128016" cy="12801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2377440"/>
            <a:ext cx="0" cy="141732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2377440"/>
            <a:ext cx="128016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2377440"/>
            <a:ext cx="0" cy="141732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50008" y="2331720"/>
            <a:ext cx="91440" cy="91440"/>
          </a:xfrm>
          <a:prstGeom prst="ellipse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2331720"/>
            <a:ext cx="91440" cy="91440"/>
          </a:xfrm>
          <a:prstGeom prst="ellipse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53512" y="2331720"/>
            <a:ext cx="91440" cy="91440"/>
          </a:xfrm>
          <a:prstGeom prst="ellipse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1938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5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branch + BRANCH.zcode.md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9164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squash merge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1188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registered baseline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3200400"/>
            <a:ext cx="822960" cy="402336"/>
          </a:xfrm>
          <a:prstGeom prst="roundRect">
            <a:avLst>
              <a:gd name="adj" fmla="val 11364"/>
            </a:avLst>
          </a:prstGeom>
          <a:solidFill>
            <a:srgbClr val="E8590C"/>
          </a:solidFill>
          <a:ln w="12700">
            <a:solidFill>
              <a:srgbClr val="E8590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v1.1.0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74920" y="3602736"/>
            <a:ext cx="0" cy="128016"/>
          </a:xfrm>
          <a:prstGeom prst="line">
            <a:avLst/>
          </a:prstGeom>
          <a:noFill/>
          <a:ln w="12700">
            <a:solidFill>
              <a:srgbClr val="E859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348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feature per branch · cut from a registered baseline · never commit to a baseline directly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1517904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46520" y="1517904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Design-first proposal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docs/feature-proposal-*.md with numbered decisions — 14 of them for the tool registry.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943600" y="24688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46520" y="2468880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Cross-agent review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second model (deepseek) reviews the proposal and the code before anything merges.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943600" y="3419856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46520" y="3419856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from a registered baseline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BRANCH.zcode.md tracks ACs, verification plan, changelog — no manifest, no merge.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943600" y="4370832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46520" y="4370832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with evidence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plus live-verification logs filed under harness/02-knowledge/.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943600" y="5321808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446520" y="5321808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Squash merge, keep the branch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manifest deleted in the squash, FEATURES.zcode.md index updated, branch kept as the revert path.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Commits follow type(scope): summary + What / Why / How / Verification sections — enforced by a commit-msg git hook.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292840" y="64556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HARNESS &amp;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by AI agents — what actually worked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context layer written for machines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CLAUDE.md brief · harness/00-global-context specs · 02-knowledge process reports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29400" y="1920240"/>
            <a:ext cx="320040" cy="0"/>
          </a:xfrm>
          <a:prstGeom prst="line">
            <a:avLst/>
          </a:prstGeom>
          <a:noFill/>
          <a:ln w="19050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7086600" y="1536192"/>
            <a:ext cx="4645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i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“Context engineering beats prompt engineering”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Martin Fowler, 2026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395728"/>
            <a:ext cx="11274552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23744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Narrow agents on disjoint branches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three host tools share conventions, zero shared code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29400" y="2907792"/>
            <a:ext cx="320040" cy="0"/>
          </a:xfrm>
          <a:prstGeom prst="line">
            <a:avLst/>
          </a:prstGeom>
          <a:noFill/>
          <a:ln w="19050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086600" y="2523744"/>
            <a:ext cx="4645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i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“Single-responsibility agents outperform do-everything ones”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 reports, 2026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11274552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11296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Models reviewing models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deepseek reviews proposals and implementations pre-merge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29400" y="3895344"/>
            <a:ext cx="320040" cy="0"/>
          </a:xfrm>
          <a:prstGeom prst="line">
            <a:avLst/>
          </a:prstGeom>
          <a:noFill/>
          <a:ln w="19050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086600" y="3511296"/>
            <a:ext cx="4645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i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“Adoption is easy — trust is the bottleneck; review everything”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Graphite guide, 2026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370832"/>
            <a:ext cx="11274552" cy="0"/>
          </a:xfrm>
          <a:prstGeom prst="line">
            <a:avLst/>
          </a:prstGeom>
          <a:noFill/>
          <a:ln w="9525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498848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A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gates, not vibes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HW gate + evidence logs decide merges; sessions answer “were the docs sufficient?”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29400" y="4882896"/>
            <a:ext cx="320040" cy="0"/>
          </a:xfrm>
          <a:prstGeom prst="line">
            <a:avLst/>
          </a:prstGeom>
          <a:noFill/>
          <a:ln w="19050">
            <a:solidFill>
              <a:srgbClr val="5AA7BC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086600" y="4498848"/>
            <a:ext cx="4645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i="1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“90 % use agents weekly — only 29 % trust the output”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JetBrains · Uvik, 2026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5532120"/>
            <a:ext cx="3657600" cy="777240"/>
          </a:xfrm>
          <a:prstGeom prst="roundRect">
            <a:avLst>
              <a:gd name="adj" fmla="val 5882"/>
            </a:avLst>
          </a:prstGeom>
          <a:solidFill>
            <a:srgbClr val="F1F5F7"/>
          </a:solidFill>
          <a:ln w="9525">
            <a:solidFill>
              <a:srgbClr val="D8E0E6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90 %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agents weekly — JetBrains 2026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261104" y="5532120"/>
            <a:ext cx="3657600" cy="777240"/>
          </a:xfrm>
          <a:prstGeom prst="roundRect">
            <a:avLst>
              <a:gd name="adj" fmla="val 5882"/>
            </a:avLst>
          </a:prstGeom>
          <a:solidFill>
            <a:srgbClr val="F1F5F7"/>
          </a:solidFill>
          <a:ln w="9525">
            <a:solidFill>
              <a:srgbClr val="D8E0E6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2.3×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 rate for heavy users — LinearB 2026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065008" y="5532120"/>
            <a:ext cx="3657600" cy="777240"/>
          </a:xfrm>
          <a:prstGeom prst="roundRect">
            <a:avLst>
              <a:gd name="adj" fmla="val 5882"/>
            </a:avLst>
          </a:prstGeom>
          <a:solidFill>
            <a:srgbClr val="F1F5F7"/>
          </a:solidFill>
          <a:ln w="9525">
            <a:solidFill>
              <a:srgbClr val="D8E0E6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29 %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the output — Uvik 2026 · why we gate on evidence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64373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Links in slides_outline.zcode.md — martinfowler.com, agents.md, JetBrains / LinearB / Uvik 2026 research.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92840" y="64556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F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esp32_lua_llm · what's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it's headed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566160" cy="1481328"/>
          </a:xfrm>
          <a:prstGeom prst="roundRect">
            <a:avLst>
              <a:gd name="adj" fmla="val 4321"/>
            </a:avLst>
          </a:prstGeom>
          <a:solidFill>
            <a:srgbClr val="1A2836"/>
          </a:solidFill>
          <a:ln w="9525">
            <a:solidFill>
              <a:srgbClr val="2C42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084832"/>
            <a:ext cx="3163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  ·  Persistent packs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9FB3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packs live in LittleFS slots and auto-register on boot — survive power cycles.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15968" y="1920240"/>
            <a:ext cx="3566160" cy="1481328"/>
          </a:xfrm>
          <a:prstGeom prst="roundRect">
            <a:avLst>
              <a:gd name="adj" fmla="val 4321"/>
            </a:avLst>
          </a:prstGeom>
          <a:solidFill>
            <a:srgbClr val="1A2836"/>
          </a:solidFill>
          <a:ln w="9525">
            <a:solidFill>
              <a:srgbClr val="2C42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17136" y="2084832"/>
            <a:ext cx="3163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  ·  hw.* bindings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9FB3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Lua tools reach GPIO, UART, energy profiling — the dongle becomes an actor, not just an observer.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65008" y="1920240"/>
            <a:ext cx="3566160" cy="1481328"/>
          </a:xfrm>
          <a:prstGeom prst="roundRect">
            <a:avLst>
              <a:gd name="adj" fmla="val 4321"/>
            </a:avLst>
          </a:prstGeom>
          <a:solidFill>
            <a:srgbClr val="1A2836"/>
          </a:solidFill>
          <a:ln w="9525">
            <a:solidFill>
              <a:srgbClr val="2C42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66176" y="2084832"/>
            <a:ext cx="3163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  ·  Native function-calling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9FB3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assistant drops envelope parsing for real tool calls; the registry exposes itself over GATT.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36758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B3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 queued: CONN STOP settle semantics · full battery + coverage pass · push master to origin.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416052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dongle captures. The model thinks.</a:t>
            </a:r>
            <a:endParaRPr lang="en-US" sz="2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 closes.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66928" y="55321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~5.7k LOC authored firmware (35.8k with vendored Lua 5.4) · ~2.8k Python host tools · 126 Unity C tests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 + 33 + 10 pytest · 167 hardware checks · τ̂ 9.5 vs τ 10.0 · v1.1.0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E:\agent\esp32_lua_llm · Lua_tool_extension_dev → master (review pending)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 Lua LLM Dongle — Architecture</dc:title>
  <dc:subject>High-level architecture walkthrough</dc:subject>
  <dc:creator>bo li</dc:creator>
  <cp:lastModifiedBy>bo li</cp:lastModifiedBy>
  <cp:revision>1</cp:revision>
  <dcterms:created xsi:type="dcterms:W3CDTF">2026-09-06T09:30:24Z</dcterms:created>
  <dcterms:modified xsi:type="dcterms:W3CDTF">2026-09-06T09:30:24Z</dcterms:modified>
</cp:coreProperties>
</file>